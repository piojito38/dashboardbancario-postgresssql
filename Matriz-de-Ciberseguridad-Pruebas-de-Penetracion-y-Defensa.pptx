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79664" y="1658913"/>
            <a:ext cx="4613672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Matriz de Ciberseguridad: Pruebas de Penetración y Defensa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79664" y="2630388"/>
            <a:ext cx="4613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Análisis de vulnerabilidades en la arquitectura del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Bancario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Homebanking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79664" y="3225775"/>
            <a:ext cx="493068" cy="258812"/>
          </a:xfrm>
          <a:prstGeom prst="roundRect">
            <a:avLst>
              <a:gd name="adj" fmla="val 17875"/>
            </a:avLst>
          </a:prstGeom>
          <a:solidFill>
            <a:srgbClr val="480405"/>
          </a:solidFill>
          <a:ln/>
        </p:spPr>
      </p:sp>
      <p:sp>
        <p:nvSpPr>
          <p:cNvPr id="6" name="Text 3"/>
          <p:cNvSpPr/>
          <p:nvPr/>
        </p:nvSpPr>
        <p:spPr>
          <a:xfrm>
            <a:off x="4062264" y="3267075"/>
            <a:ext cx="785068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41565" y="3225775"/>
            <a:ext cx="563984" cy="258812"/>
          </a:xfrm>
          <a:prstGeom prst="roundRect">
            <a:avLst>
              <a:gd name="adj" fmla="val 17875"/>
            </a:avLst>
          </a:prstGeom>
          <a:solidFill>
            <a:srgbClr val="480405"/>
          </a:solidFill>
          <a:ln/>
        </p:spPr>
      </p:sp>
      <p:sp>
        <p:nvSpPr>
          <p:cNvPr id="8" name="Text 5"/>
          <p:cNvSpPr/>
          <p:nvPr/>
        </p:nvSpPr>
        <p:spPr>
          <a:xfrm>
            <a:off x="4624164" y="3267075"/>
            <a:ext cx="855985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FASTAPI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174382" y="3225775"/>
            <a:ext cx="809774" cy="258812"/>
          </a:xfrm>
          <a:prstGeom prst="roundRect">
            <a:avLst>
              <a:gd name="adj" fmla="val 17875"/>
            </a:avLst>
          </a:prstGeom>
          <a:solidFill>
            <a:srgbClr val="480405"/>
          </a:solidFill>
          <a:ln/>
        </p:spPr>
      </p:sp>
      <p:sp>
        <p:nvSpPr>
          <p:cNvPr id="10" name="Text 7"/>
          <p:cNvSpPr/>
          <p:nvPr/>
        </p:nvSpPr>
        <p:spPr>
          <a:xfrm>
            <a:off x="5256981" y="3267075"/>
            <a:ext cx="1101775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POSTGRESQL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821754"/>
            <a:ext cx="6166247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Ecosistema Tecnológico Moderno y Seguro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0664" y="1479575"/>
            <a:ext cx="804267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arquitectura combina tres capas tecnológicas de última generación, cada una con responsabilidades de seguridad bien definidas que trabajan de forma coordinada para proteger los datos financieros.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64" y="2074962"/>
            <a:ext cx="1488356" cy="919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0664" y="3166839"/>
            <a:ext cx="15298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Frontend — React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0664" y="3440683"/>
            <a:ext cx="2566169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Interfaz de usuario dinámica y segura. Gestiona la experiencia del cliente con sanitización automática de entradas y protección del DOM.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878" y="2074962"/>
            <a:ext cx="1488356" cy="9198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8878" y="3166839"/>
            <a:ext cx="152980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Backend — FastAPI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88878" y="3440683"/>
            <a:ext cx="2566169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asíncrono con validación de datos, lógica de negocio y control de acceso. Implementa autenticación JWT, rate limiting y autorización granular.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093" y="2074962"/>
            <a:ext cx="1488356" cy="9198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7093" y="3166839"/>
            <a:ext cx="233206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Base de Datos — PostgreSQL + ORM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27093" y="3440683"/>
            <a:ext cx="2566243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Persistencia relacional con abstracción de datos mediante SQLAlchemy/SQLModel. Las consultas parametrizadas bloquean inyecciones SQL de forma nativa.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664" y="405259"/>
            <a:ext cx="1042020" cy="227037"/>
          </a:xfrm>
          <a:prstGeom prst="roundRect">
            <a:avLst>
              <a:gd name="adj" fmla="val 18466"/>
            </a:avLst>
          </a:prstGeom>
          <a:solidFill>
            <a:srgbClr val="480405"/>
          </a:solidFill>
          <a:ln/>
        </p:spPr>
      </p:sp>
      <p:sp>
        <p:nvSpPr>
          <p:cNvPr id="3" name="Text 1"/>
          <p:cNvSpPr/>
          <p:nvPr/>
        </p:nvSpPr>
        <p:spPr>
          <a:xfrm>
            <a:off x="625525" y="442689"/>
            <a:ext cx="1349499" cy="15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VULNERABILIDAD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50664" y="677466"/>
            <a:ext cx="3229942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Inyección SQL (SQLi)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50664" y="1193602"/>
            <a:ext cx="8042672" cy="38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inyección SQL es uno de los vectores de ataque más críticos en aplicaciones financieras. Un atacante puede manipular consultas para eludir autenticación, extraer datos sensibles o incluso destruir información.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0846" y="1701329"/>
            <a:ext cx="4048795" cy="3036912"/>
          </a:xfrm>
          <a:prstGeom prst="roundRect">
            <a:avLst>
              <a:gd name="adj" fmla="val 2958"/>
            </a:avLst>
          </a:prstGeom>
          <a:solidFill>
            <a:srgbClr val="F65F62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85564" y="1814364"/>
            <a:ext cx="1843534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⚔️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Ataque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564" y="2105397"/>
            <a:ext cx="3799359" cy="672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Vector:</a:t>
            </a:r>
            <a:pPr algn="l" indent="0" marL="0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Inserción de código SQL malicioso en formularios de login o filtros para eludir la autenticación y acceder a datos no autorizados.</a:t>
            </a:r>
            <a:endParaRPr lang="en-US" sz="9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Ejemplo de payload: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564" y="2905125"/>
            <a:ext cx="3799359" cy="439713"/>
          </a:xfrm>
          <a:prstGeom prst="roundRect">
            <a:avLst>
              <a:gd name="adj" fmla="val 11918"/>
            </a:avLst>
          </a:prstGeom>
          <a:solidFill>
            <a:srgbClr val="E95255"/>
          </a:solidFill>
          <a:ln/>
        </p:spPr>
      </p:sp>
      <p:sp>
        <p:nvSpPr>
          <p:cNvPr id="10" name="Shape 8"/>
          <p:cNvSpPr/>
          <p:nvPr/>
        </p:nvSpPr>
        <p:spPr>
          <a:xfrm>
            <a:off x="579388" y="2905125"/>
            <a:ext cx="3811712" cy="439713"/>
          </a:xfrm>
          <a:prstGeom prst="roundRect">
            <a:avLst>
              <a:gd name="adj" fmla="val 4257"/>
            </a:avLst>
          </a:prstGeom>
          <a:solidFill>
            <a:srgbClr val="E95255"/>
          </a:solidFill>
          <a:ln/>
        </p:spPr>
      </p:sp>
      <p:sp>
        <p:nvSpPr>
          <p:cNvPr id="11" name="Text 9"/>
          <p:cNvSpPr/>
          <p:nvPr/>
        </p:nvSpPr>
        <p:spPr>
          <a:xfrm>
            <a:off x="735285" y="3029843"/>
            <a:ext cx="3957117" cy="19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admin' OR '1'='1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564" y="3472011"/>
            <a:ext cx="3799359" cy="38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Este payload convierte la condición WHERE en siempre verdadera, devolviendo el primer registro (normalmente el administrador).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8939" y="1814364"/>
            <a:ext cx="278851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Defensa — Nuestra Implementación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8939" y="2105397"/>
            <a:ext cx="3869159" cy="1053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Solución:</a:t>
            </a:r>
            <a:pPr algn="l" indent="0" marL="0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ORM con parametrización estricta.</a:t>
            </a:r>
            <a:endParaRPr lang="en-US" sz="9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Implementación: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FastAPI junto con SQLAlchemy/SQLModel </a:t>
            </a:r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procesa consultas SQL crudas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construidas mediante concatenación de strings. Todas las entradas de usuario se tratan como </a:t>
            </a:r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datos literales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no como código ejecutable.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8939" y="3285679"/>
            <a:ext cx="1878062" cy="132538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25095" y="3424684"/>
            <a:ext cx="154290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Parametrización automática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25095" y="3884191"/>
            <a:ext cx="1542901" cy="57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ORM escapa y parametriza cada valor antes de enviarlo a PostgreSQL.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0036" y="3285679"/>
            <a:ext cx="1878062" cy="132538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16192" y="3424684"/>
            <a:ext cx="13863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Sin SQL dinámico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916192" y="3710955"/>
            <a:ext cx="1542901" cy="76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Las consultas se construyen mediante el ORM, nunca mediante f-strings o concatenación.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664" y="411361"/>
            <a:ext cx="1063377" cy="227037"/>
          </a:xfrm>
          <a:prstGeom prst="roundRect">
            <a:avLst>
              <a:gd name="adj" fmla="val 18466"/>
            </a:avLst>
          </a:prstGeom>
          <a:solidFill>
            <a:srgbClr val="480405"/>
          </a:solidFill>
          <a:ln/>
        </p:spPr>
      </p:sp>
      <p:sp>
        <p:nvSpPr>
          <p:cNvPr id="3" name="Text 1"/>
          <p:cNvSpPr/>
          <p:nvPr/>
        </p:nvSpPr>
        <p:spPr>
          <a:xfrm>
            <a:off x="625525" y="448791"/>
            <a:ext cx="1370856" cy="15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VULNERABILIDAD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50664" y="683568"/>
            <a:ext cx="3609231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Cross-Site Scripting (XSS)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50664" y="1199704"/>
            <a:ext cx="8042672" cy="38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XSS permite a un atacante inyectar scripts maliciosos que se ejecutan en el navegador de la víctima, robando sesiones, credenciales o redirigiendo a sitios fraudulentos.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0846" y="1707431"/>
            <a:ext cx="4048795" cy="3024634"/>
          </a:xfrm>
          <a:prstGeom prst="roundRect">
            <a:avLst>
              <a:gd name="adj" fmla="val 2970"/>
            </a:avLst>
          </a:prstGeom>
          <a:solidFill>
            <a:srgbClr val="F65F62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85564" y="1820466"/>
            <a:ext cx="1843534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⚔️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Ataque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564" y="2111499"/>
            <a:ext cx="3799359" cy="672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Vector:</a:t>
            </a:r>
            <a:pPr algn="l" indent="0" marL="0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Inyección de código JavaScript en campos de texto (comentarios, nombres, búsquedas) que se renderizan sin sanitización.</a:t>
            </a:r>
            <a:endParaRPr lang="en-US" sz="9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Ejemplo de payload: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564" y="2911227"/>
            <a:ext cx="3799359" cy="439713"/>
          </a:xfrm>
          <a:prstGeom prst="roundRect">
            <a:avLst>
              <a:gd name="adj" fmla="val 11918"/>
            </a:avLst>
          </a:prstGeom>
          <a:solidFill>
            <a:srgbClr val="E95255"/>
          </a:solidFill>
          <a:ln/>
        </p:spPr>
      </p:sp>
      <p:sp>
        <p:nvSpPr>
          <p:cNvPr id="10" name="Shape 8"/>
          <p:cNvSpPr/>
          <p:nvPr/>
        </p:nvSpPr>
        <p:spPr>
          <a:xfrm>
            <a:off x="579388" y="2911227"/>
            <a:ext cx="3811712" cy="439713"/>
          </a:xfrm>
          <a:prstGeom prst="roundRect">
            <a:avLst>
              <a:gd name="adj" fmla="val 4257"/>
            </a:avLst>
          </a:prstGeom>
          <a:solidFill>
            <a:srgbClr val="E95255"/>
          </a:solidFill>
          <a:ln/>
        </p:spPr>
      </p:sp>
      <p:sp>
        <p:nvSpPr>
          <p:cNvPr id="11" name="Text 9"/>
          <p:cNvSpPr/>
          <p:nvPr/>
        </p:nvSpPr>
        <p:spPr>
          <a:xfrm>
            <a:off x="735285" y="3035945"/>
            <a:ext cx="3957117" cy="19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E952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&lt;script&gt;alert('Hack');&lt;/script&gt;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564" y="3478113"/>
            <a:ext cx="3799359" cy="38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 un escenario real, el script robaría el token de sesión y lo enviaría a un servidor atacante.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8939" y="1820466"/>
            <a:ext cx="278851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Defensa — Nuestra Implementación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8939" y="2111499"/>
            <a:ext cx="3869159" cy="867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Solución:</a:t>
            </a:r>
            <a:pPr algn="l" indent="0" marL="0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Sanitización automática en el frontend con React.</a:t>
            </a:r>
            <a:endParaRPr lang="en-US" sz="9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Implementación: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React aplica </a:t>
            </a:r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Escaping automático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 todas las expresiones JSX. Antes de insertar cualquier valor en el DOM, convierte los caracteres de control (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 en entidades HTML inofensivas.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8939" y="3106266"/>
            <a:ext cx="1878062" cy="14986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25095" y="3245272"/>
            <a:ext cx="13863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Escapado por defecto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25095" y="3531543"/>
            <a:ext cx="1542901" cy="76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Todo contenido dinámico se escapa antes de renderizarse, sin configuración adicional.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0036" y="3106266"/>
            <a:ext cx="1878062" cy="14986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16192" y="3245272"/>
            <a:ext cx="154290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Política CSP complementaria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916192" y="3704779"/>
            <a:ext cx="1542901" cy="76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 recomienda añadir Content Security Policy para bloquear scripts de fuentes no autorizadas.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664" y="424309"/>
            <a:ext cx="1024756" cy="216694"/>
          </a:xfrm>
          <a:prstGeom prst="roundRect">
            <a:avLst>
              <a:gd name="adj" fmla="val 18680"/>
            </a:avLst>
          </a:prstGeom>
          <a:solidFill>
            <a:srgbClr val="480405"/>
          </a:solidFill>
          <a:ln/>
        </p:spPr>
      </p:sp>
      <p:sp>
        <p:nvSpPr>
          <p:cNvPr id="3" name="Text 1"/>
          <p:cNvSpPr/>
          <p:nvPr/>
        </p:nvSpPr>
        <p:spPr>
          <a:xfrm>
            <a:off x="622920" y="460400"/>
            <a:ext cx="1337444" cy="144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VULNERABILIDAD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50664" y="683121"/>
            <a:ext cx="5086276" cy="3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Insecure Direct Object Reference (IDOR)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50664" y="1175817"/>
            <a:ext cx="8042672" cy="361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IDOR ocurre cuando una API expone referencias directas a objetos internos (IDs de cuentas, transacciones) sin verificar que el usuario tenga permiso real para acceder a ese recurso específico.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3897" y="1655713"/>
            <a:ext cx="4047902" cy="3063478"/>
          </a:xfrm>
          <a:prstGeom prst="roundRect">
            <a:avLst>
              <a:gd name="adj" fmla="val 2831"/>
            </a:avLst>
          </a:prstGeom>
          <a:solidFill>
            <a:srgbClr val="F65F62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84299" y="1761083"/>
            <a:ext cx="179576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⚔️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Ataque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4299" y="2038499"/>
            <a:ext cx="3807098" cy="636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Vector:</a:t>
            </a:r>
            <a:pPr algn="l"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Manipulación de parámetros ID en la URL o en el cuerpo de la petición para acceder a recursos de otros usuarios.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Ejemplo: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4299" y="2793876"/>
            <a:ext cx="3807098" cy="602159"/>
          </a:xfrm>
          <a:prstGeom prst="roundRect">
            <a:avLst>
              <a:gd name="adj" fmla="val 8403"/>
            </a:avLst>
          </a:prstGeom>
          <a:solidFill>
            <a:srgbClr val="E95255"/>
          </a:solidFill>
          <a:ln/>
        </p:spPr>
      </p:sp>
      <p:sp>
        <p:nvSpPr>
          <p:cNvPr id="10" name="Shape 8"/>
          <p:cNvSpPr/>
          <p:nvPr/>
        </p:nvSpPr>
        <p:spPr>
          <a:xfrm>
            <a:off x="578346" y="2793876"/>
            <a:ext cx="3819004" cy="602159"/>
          </a:xfrm>
          <a:prstGeom prst="roundRect">
            <a:avLst>
              <a:gd name="adj" fmla="val 3001"/>
            </a:avLst>
          </a:prstGeom>
          <a:solidFill>
            <a:srgbClr val="E95255"/>
          </a:solidFill>
          <a:ln/>
        </p:spPr>
      </p:sp>
      <p:sp>
        <p:nvSpPr>
          <p:cNvPr id="11" name="Text 9"/>
          <p:cNvSpPr/>
          <p:nvPr/>
        </p:nvSpPr>
        <p:spPr>
          <a:xfrm>
            <a:off x="728886" y="2914278"/>
            <a:ext cx="3517925" cy="361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E952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/api/cuentas/10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E952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→ Cambiar a /api/cuentas/15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4299" y="3514576"/>
            <a:ext cx="3807098" cy="361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 no hay validación, el atacante accede a la cuenta bancaria de otro cliente.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23730" y="1761083"/>
            <a:ext cx="2707184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Defensa — Nuestra Implementación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3730" y="2038499"/>
            <a:ext cx="3874368" cy="1178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Solución: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Modelo de autorización </a:t>
            </a:r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Cero Confianza</a:t>
            </a:r>
            <a:pPr algn="l"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 tokens JWT firmados criptográficamente.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Implementación: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FastAPI </a:t>
            </a:r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ignora el ID proporcionado en la URL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como fuente de verdad. La identidad real se extrae del payload del token JWT validado. Si el ID del recurso no pertenece al sujeto del token, se retorna </a:t>
            </a:r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error 403 Forbidden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3730" y="3335908"/>
            <a:ext cx="1884462" cy="126474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15570" y="3470597"/>
            <a:ext cx="1495351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Verificación de propiedad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15570" y="3743251"/>
            <a:ext cx="1557933" cy="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consulta filtra por 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5E0DF"/>
                </a:solidFill>
                <a:highlight>
                  <a:srgbClr val="2624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extraído del JWT, no del input.</a:t>
            </a:r>
            <a:endParaRPr lang="en-US" sz="9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3562" y="3335908"/>
            <a:ext cx="1884536" cy="126474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05402" y="3470597"/>
            <a:ext cx="1338560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Firma criptográfica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905402" y="3743251"/>
            <a:ext cx="1558007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JWT se firma con clave secreta; cualquier manipulación invalida el token.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664" y="405259"/>
            <a:ext cx="1064865" cy="227037"/>
          </a:xfrm>
          <a:prstGeom prst="roundRect">
            <a:avLst>
              <a:gd name="adj" fmla="val 18466"/>
            </a:avLst>
          </a:prstGeom>
          <a:solidFill>
            <a:srgbClr val="480405"/>
          </a:solidFill>
          <a:ln/>
        </p:spPr>
      </p:sp>
      <p:sp>
        <p:nvSpPr>
          <p:cNvPr id="3" name="Text 1"/>
          <p:cNvSpPr/>
          <p:nvPr/>
        </p:nvSpPr>
        <p:spPr>
          <a:xfrm>
            <a:off x="625525" y="442689"/>
            <a:ext cx="1372344" cy="15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VULNERABILIDAD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50664" y="677466"/>
            <a:ext cx="3284786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Ataque de Fuerza Bruta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50664" y="1193602"/>
            <a:ext cx="8042672" cy="38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ataques de fuerza bruta automatizan el envío masivo de combinaciones usuario/contraseña contra los endpoints de autenticación, comprometiendo cuentas legítimas en minutos si no existen contramedidas.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0846" y="1701329"/>
            <a:ext cx="4048795" cy="3036912"/>
          </a:xfrm>
          <a:prstGeom prst="roundRect">
            <a:avLst>
              <a:gd name="adj" fmla="val 2958"/>
            </a:avLst>
          </a:prstGeom>
          <a:solidFill>
            <a:srgbClr val="F65F62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85564" y="1814364"/>
            <a:ext cx="1843534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⚔️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Ataque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564" y="2105397"/>
            <a:ext cx="3799359" cy="672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Vector:</a:t>
            </a:r>
            <a:pPr algn="l" indent="0" marL="0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Ráfagas automatizadas de miles de combinaciones credenciales contra el endpoint de login en cuestión de segundos.</a:t>
            </a:r>
            <a:endParaRPr lang="en-US" sz="9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Ejemplo: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564" y="2905125"/>
            <a:ext cx="3799359" cy="629989"/>
          </a:xfrm>
          <a:prstGeom prst="roundRect">
            <a:avLst>
              <a:gd name="adj" fmla="val 8319"/>
            </a:avLst>
          </a:prstGeom>
          <a:solidFill>
            <a:srgbClr val="E95255"/>
          </a:solidFill>
          <a:ln/>
        </p:spPr>
      </p:sp>
      <p:sp>
        <p:nvSpPr>
          <p:cNvPr id="10" name="Shape 8"/>
          <p:cNvSpPr/>
          <p:nvPr/>
        </p:nvSpPr>
        <p:spPr>
          <a:xfrm>
            <a:off x="579388" y="2905125"/>
            <a:ext cx="3811712" cy="629989"/>
          </a:xfrm>
          <a:prstGeom prst="roundRect">
            <a:avLst>
              <a:gd name="adj" fmla="val 2971"/>
            </a:avLst>
          </a:prstGeom>
          <a:solidFill>
            <a:srgbClr val="E95255"/>
          </a:solidFill>
          <a:ln/>
        </p:spPr>
      </p:sp>
      <p:sp>
        <p:nvSpPr>
          <p:cNvPr id="11" name="Text 9"/>
          <p:cNvSpPr/>
          <p:nvPr/>
        </p:nvSpPr>
        <p:spPr>
          <a:xfrm>
            <a:off x="735285" y="3029843"/>
            <a:ext cx="3499917" cy="38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E952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9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E952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→ 10.000 peticiones/minuto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564" y="3662288"/>
            <a:ext cx="3799359" cy="38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Herramientas como Hydra o Burp Suite permiten ejecutar estos ataques de forma masiva y distribuida.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8939" y="1814364"/>
            <a:ext cx="278851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Defensa — Nuestra Implementación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8939" y="2105397"/>
            <a:ext cx="3869159" cy="1053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Solución:</a:t>
            </a:r>
            <a:pPr algn="l" indent="0" marL="0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Rate Limiting por IP y bloqueo lógico de cuentas.</a:t>
            </a:r>
            <a:endParaRPr lang="en-US" sz="9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Implementación: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Un </a:t>
            </a:r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middleware de Rate Limiting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 FastAPI controla la frecuencia de peticiones por dirección IP, retornando </a:t>
            </a:r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error 429 Too Many Requests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al superar el umbral. Adicionalmente, tras </a:t>
            </a:r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 intentos fallidos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la cuenta se bloquea temporalmente en base de datos.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8939" y="3285679"/>
            <a:ext cx="1878062" cy="132538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25095" y="3424684"/>
            <a:ext cx="13863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Rate Limiting (429)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25095" y="3710955"/>
            <a:ext cx="1542901" cy="76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Middleware que limita peticiones por IP, protegiendo la infraestructura.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0036" y="3285679"/>
            <a:ext cx="1878062" cy="132538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16192" y="3424684"/>
            <a:ext cx="13863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Bloqueo de cuenta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916192" y="3710955"/>
            <a:ext cx="1542901" cy="76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Contador de fallos en PostgreSQL; bloqueo automático tras 3 intentos incorrectos.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0664" y="393576"/>
            <a:ext cx="3860378" cy="244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Postura de Seguridad: 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65F62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Secure by Design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50664" y="723305"/>
            <a:ext cx="4613672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capa de la arquitectura incorpora controles de seguridad nativos que, en conjunto, forman una defensa en profundidad robusta y coherente.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550664" y="1018282"/>
            <a:ext cx="4613672" cy="778966"/>
          </a:xfrm>
          <a:prstGeom prst="roundRect">
            <a:avLst>
              <a:gd name="adj" fmla="val 4756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3607" y="1111225"/>
            <a:ext cx="264542" cy="264542"/>
          </a:xfrm>
          <a:prstGeom prst="ellipse">
            <a:avLst/>
          </a:prstGeom>
          <a:solidFill>
            <a:srgbClr val="F65F6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310" y="1183928"/>
            <a:ext cx="119062" cy="1190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607" y="1432247"/>
            <a:ext cx="1548408" cy="1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React — Protección del Usuario Final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643607" y="1588591"/>
            <a:ext cx="4427786" cy="115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Escaping automático contra XSS. DOM seguro por defecto.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550664" y="1853729"/>
            <a:ext cx="4613672" cy="778966"/>
          </a:xfrm>
          <a:prstGeom prst="roundRect">
            <a:avLst>
              <a:gd name="adj" fmla="val 4756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3607" y="1946672"/>
            <a:ext cx="264542" cy="264542"/>
          </a:xfrm>
          <a:prstGeom prst="ellipse">
            <a:avLst/>
          </a:prstGeom>
          <a:solidFill>
            <a:srgbClr val="F65F6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310" y="2019374"/>
            <a:ext cx="119062" cy="1190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3607" y="2267694"/>
            <a:ext cx="1509117" cy="1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FastAPI + JWT — Lógica e Identidad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643607" y="2424038"/>
            <a:ext cx="4427786" cy="115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Autorización Cero Confianza, validación criptográfica y control de rutas.</a:t>
            </a:r>
            <a:endParaRPr lang="en-US" sz="650" dirty="0"/>
          </a:p>
        </p:txBody>
      </p:sp>
      <p:sp>
        <p:nvSpPr>
          <p:cNvPr id="15" name="Shape 10"/>
          <p:cNvSpPr/>
          <p:nvPr/>
        </p:nvSpPr>
        <p:spPr>
          <a:xfrm>
            <a:off x="550664" y="2689175"/>
            <a:ext cx="4613672" cy="778966"/>
          </a:xfrm>
          <a:prstGeom prst="roundRect">
            <a:avLst>
              <a:gd name="adj" fmla="val 4756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3607" y="2782119"/>
            <a:ext cx="264542" cy="264542"/>
          </a:xfrm>
          <a:prstGeom prst="ellipse">
            <a:avLst/>
          </a:prstGeom>
          <a:solidFill>
            <a:srgbClr val="F65F6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310" y="2854821"/>
            <a:ext cx="119062" cy="1190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3607" y="3103141"/>
            <a:ext cx="1595363" cy="1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Middleware FastAPI — Infraestructura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643607" y="3259485"/>
            <a:ext cx="4427786" cy="115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Rate Limiting contra abusos, fuerza bruta y ataques DDoS de capa 7.</a:t>
            </a:r>
            <a:endParaRPr lang="en-US" sz="650" dirty="0"/>
          </a:p>
        </p:txBody>
      </p:sp>
      <p:sp>
        <p:nvSpPr>
          <p:cNvPr id="20" name="Shape 14"/>
          <p:cNvSpPr/>
          <p:nvPr/>
        </p:nvSpPr>
        <p:spPr>
          <a:xfrm>
            <a:off x="550664" y="3524622"/>
            <a:ext cx="4613672" cy="778966"/>
          </a:xfrm>
          <a:prstGeom prst="roundRect">
            <a:avLst>
              <a:gd name="adj" fmla="val 4756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3607" y="3617565"/>
            <a:ext cx="264542" cy="264542"/>
          </a:xfrm>
          <a:prstGeom prst="ellipse">
            <a:avLst/>
          </a:prstGeom>
          <a:solidFill>
            <a:srgbClr val="F65F6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6310" y="3690268"/>
            <a:ext cx="119062" cy="11906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3607" y="3938588"/>
            <a:ext cx="1721421" cy="1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PostgreSQL + ORM — Integridad de Datos</a:t>
            </a:r>
            <a:endParaRPr lang="en-US" sz="750" dirty="0"/>
          </a:p>
        </p:txBody>
      </p:sp>
      <p:sp>
        <p:nvSpPr>
          <p:cNvPr id="24" name="Text 17"/>
          <p:cNvSpPr/>
          <p:nvPr/>
        </p:nvSpPr>
        <p:spPr>
          <a:xfrm>
            <a:off x="643607" y="4094931"/>
            <a:ext cx="4427786" cy="115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Parametrización nativa contra SQLi. Sin consultas crudas peligrosas.</a:t>
            </a:r>
            <a:endParaRPr lang="en-US" sz="650" dirty="0"/>
          </a:p>
        </p:txBody>
      </p:sp>
      <p:sp>
        <p:nvSpPr>
          <p:cNvPr id="25" name="Shape 18"/>
          <p:cNvSpPr/>
          <p:nvPr/>
        </p:nvSpPr>
        <p:spPr>
          <a:xfrm>
            <a:off x="550664" y="4367138"/>
            <a:ext cx="4613672" cy="382786"/>
          </a:xfrm>
          <a:prstGeom prst="roundRect">
            <a:avLst>
              <a:gd name="adj" fmla="val 9678"/>
            </a:avLst>
          </a:prstGeom>
          <a:solidFill>
            <a:srgbClr val="183A1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845" y="4481140"/>
            <a:ext cx="110207" cy="8818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7233" y="4445645"/>
            <a:ext cx="4238923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Conclusión:</a:t>
            </a:r>
            <a:pPr algn="l" indent="0" marL="0">
              <a:lnSpc>
                <a:spcPct val="109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La arquitectura implementa el principio de defensa en profundidad. Ningún vector de ataque crítico tiene una ruta de explotación viable con la configuración actual.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2026-07-03T23:24:34Z</dcterms:created>
  <dcterms:modified xsi:type="dcterms:W3CDTF">2026-07-03T23:24:34Z</dcterms:modified>
</cp:coreProperties>
</file>